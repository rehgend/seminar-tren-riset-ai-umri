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[0:00–1:00] Salam pembuka, terima kasih kepada panitia. Sampaikan bahwa 60 menit ke depan adalah sebuah perjalanan, lalu 30 menit untuk diskusi.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[1:00–2:30] Ajak audiens menghitung berapa kartu yang mereka alami hari ini. Tekankan: dari belajar, mobilitas, hingga hiburan, AI sudah menjadi infrastruktur tak terlihat. Kartu terakhir adalah refleksi: kita sudah menjadi PENGGUNA AI sepanjang hari, kapan kita menjadi PEMBUAT solusi AI? Lalu buka benang merah cerita: "AI bisa memilihkan video untukmu, bisakah AI juga membantu mengatasi kabut asap di Riau?" Pertanyaan ini kita bawa sampai akhir.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[2:30–3:30] Perkenalan singkat; jangan lebih dari 1 menit. Ceritakan bahwa perjalanan dari algoritma dasar hingga deep learning adalah perjalanan yang sama yang akan dilalui mahasiswa.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[3:30–5:00] Tunjukkan evolusi riset: dari algoritma klasik (graf), statistik (regresi), soft computing (fuzzy), hingga deep learning video. Pesan: riset tumbuh bertahap, tidak harus langsung canggih. (Perbarui kartu publikasi/HKI sesuai SINTA terbaru sebelum presentasi.)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[5:00–5:30] Sampaikan big idea sejak awal dan janjikan bahwa kalimat ini akan kembali di akhir. Benang merah: kasus karhutla Riau akan "naik level" di setiap babak.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[5:30–7:00] Empat pendekatan Russell &amp; Norvig. Sorot "bertindak rasional": AI sebagai agent yang memaksimalkan hasil. Ini fondasi yang nanti kembali saat membahas Agentic AI — lingkaran cerita tertutup.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[7:00–8:30] Ceritakan sebagai drama: harapan, kekecewaan (AI winter), lalu kebangkitan karena tiga bahan. Pesan: tren riset selalu mengikuti ketersediaan data dan komputasi.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[8:30–10:00] Analogi: AI = "kendaraan"; ML = "kendaraan bermesin"; DL = "mobil listrik"; GenAI = "mobil listrik yang bisa merakit barang". Semua DL adalah ML, tapi tidak semua AI adalah ML (contoh: algoritma A* dan sistem pakar).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[10:00–11:00] Pesan penting untuk skripsi: deep learning tidak selalu jawaban. Data 200 baris tabular? Random Forest bisa lebih baik dan lebih jujur.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[11:00–11:30] Slide transisi cepat. Gunakan analogi indra manusia agar mudah diingat.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[11:30–13:00] Benang merah level 1: kamera di menara pantau mendeteksi asap karhutla dengan CNN/YOLO. Hubungkan dengan riset HAR narasumber.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[13:00–14:30] Benang merah level 2: dari "melihat asap" ke "memprediksi kapan hotspot muncul" berdasarkan deret waktu cuaca &amp; kelembapan gambut.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[14:30–16:00] Analogi: belajar naik sepeda — jatuh = reward negatif. Sebutkan bahwa RL juga dipakai menyelaraskan LLM (RLHF), jembatan ke Babak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[16:00–17:30] Untuk skripsi: model generatif sangat berguna untuk menambah data saat data lokal sedikit. Tanam benih isu etika (deepfake) yang akan dibahas di Babak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[17:30–18:30] Tunjukkan bahwa satu masalah nyata bisa melahirkan beberapa judul skripsi berbeda. Inilah cara berpikir "mulai dari masalah".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[18:30–20:00] Babak 2 dibuka dengan "gelombang" terbesar. Jelaskan konsep foundation model: dilatih sekali dengan biaya besar, diadaptasi untuk banyak tugas.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[20:00–21:30] Contoh langsung: lengkapi kalimat "Asap tebal di ..." Ajak audiens menebak — mereka sedang menjadi LLM. Tekankan: model tidak "tahu kebenaran", ia memodelkan probabilitas; ini akar halusinasi.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[21:30–23:00] Varian modern: Mixture-of-Experts, model kecil (SLM) yang bisa jalan di laptop, serta teknik efisien LoRA/QLoRA — sangat relevan untuk skripsi dengan GPU terbatas.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[23:00–24:30] Contoh judul: "RAG untuk chatbot peraturan akademik kampus", "Deteksi hoaks berbahasa Melayu Riau dengan IndoBERT". Tantangan = gap riset.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[24:30–25:30] Benang merah level 3: satu modalitas sering ambigu (awan vs asap). Menggabungkan citra + sensor + laporan teks membuat keputusan lebih andal.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[25:30–27:00] Analogi CLIP: foto dan keterangannya "ditempatkan bersebelahan" di peta makna. Jelaskan tiga strategi fusi sebagai pilihan desain eksperimen skripsi.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[27:00–28:00] Ajak audiens membayangkan aplikasi di kampus: absensi dengan wajah + suara, analisis video perkuliahan + transkrip.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[28:00–29:30] Tutup lingkaran: definisi AI sebagai "rational agent" dari slide 6 kini menjadi nyata dengan LLM sebagai otaknya.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[29:30–31:00] Analogi: agent seperti asisten magang — diberi tujuan, mencari cara, bertanya ke alat, belajar dari kesalahan. Benang merah level 4: agent memantau hotspot, menarik data cuaca, membuat laporan, mengirim peringatan ke BPBD.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[31:00–32:00] Sarankan memulai dengan model terbuka lokal + LangGraph untuk skripsi agar biaya rendah dan dapat direplikasi.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[32:00–33:00] Penutup Babak 2. Pesan: skripsi S1 tidak harus level 4; level 1 yang dikerjakan dengan data lokal dan evaluasi kuat sudah berkontribusi.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[33:00–35:30] Bagian penting: sebutkan sumber data terbuka (NASA FIRMS, SiPongi, BPS Riau, Sentinel-2) sehingga mahasiswa tahu ide ini bisa dikerjakan. Ajak audiens menyebut satu masalah di sekitar kampus.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[35:30–37:00] Untuk riset CCTV/wajah (termasuk riset narasumber): wajib izin, anonimisasi, dan kesadaran bias. Setiap proposal skripsi AI sebaiknya punya subbab etika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[37:00–39:00] Ceritakan temuan MIT Media Lab: peserta yang menulis esai dengan ChatGPT menunjukkan keterlibatan otak lebih rendah dan sulit mengingat isi esainya sendiri. Ilusi kompetensi: membaca jawaban ≠ mampu mengerjakan.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[39:00–40:30] Berikan contoh prompt yang sehat: "Jangan beri jawaban, beri saya pertanyaan untuk menguji pemahaman saya tentang LSTM."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[40:30–43:00] Tunjukkan workflow: kata kunci → 20 paper 3 tahun terakhir → tabel matriks literatur (masalah, data, metode, hasil, keterbatasan) → kolom kosong =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[43:00–45:30] Keunikan tidak harus metode baru; bisa dataset baru, konteks baru, atau kombinasi baru yang dievaluasi dengan jujur. Hindari judul "Implementasi X untuk Y" tanpa pembanding dan analisis.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[45:30–48:00] Dorong mahasiswa mendekati dosen dan bergabung dengan kelompok riset sejak awal. Publikasi adalah bonus yang realistis jika langkah 1–5 rapi.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[48:00–50:00 + cadangan 10 menit] Ulangi big idea. Kembali ke pertanyaan pembuka: "Bisakah AI membantu mengatasi kabut asap?" Jawabannya: bisa — jika kalian yang membangunnya. Buka sesi tanya jawab 30 menit.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SEMINAR NASIONAL · TEKNIK INFORMATIKA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11535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E8EEF8"/>
                </a:solidFill>
                <a:latin typeface="Plus Jakarta Sans"/>
              </a:rPr>
              <a:t>Tren Riset Informatika</a:t>
            </a:r>
          </a:p>
          <a:p>
            <a:pPr algn="l"/>
            <a:r>
              <a:rPr sz="4800" b="1">
                <a:solidFill>
                  <a:srgbClr val="FB923C"/>
                </a:solidFill>
                <a:latin typeface="Plus Jakarta Sans"/>
              </a:rPr>
              <a:t>Masa Kini</a:t>
            </a:r>
            <a:r>
              <a:rPr sz="4800" b="1">
                <a:solidFill>
                  <a:srgbClr val="E8EEF8"/>
                </a:solidFill>
                <a:latin typeface="Plus Jakarta Sans"/>
              </a:rPr>
              <a:t> &amp; </a:t>
            </a:r>
            <a:r>
              <a:rPr sz="4800" b="1">
                <a:solidFill>
                  <a:srgbClr val="2DD4BF"/>
                </a:solidFill>
                <a:latin typeface="Plus Jakarta Sans"/>
              </a:rPr>
              <a:t>Masa Mendatang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911535" cy="726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9FB2CF"/>
                </a:solidFill>
                <a:latin typeface="Plus Jakarta Sans"/>
              </a:rPr>
              <a:t>Bidang Kecerdasan Buatan — dari peta, gelombang, hingga kompas risetmu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4040"/>
            <a:ext cx="10911535" cy="792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2DD4BF"/>
                </a:solidFill>
                <a:latin typeface="Plus Jakarta Sans"/>
              </a:rPr>
              <a:t>Rahman Indra Kesuma, S.Kom., M.Cs.</a:t>
            </a:r>
          </a:p>
          <a:p>
            <a:pPr algn="l"/>
            <a:r>
              <a:rPr sz="1600" b="0">
                <a:solidFill>
                  <a:srgbClr val="9FB2CF"/>
                </a:solidFill>
                <a:latin typeface="Plus Jakarta Sans"/>
              </a:rPr>
              <a:t>Program Studi Teknik Informatika · Institut Teknologi Sumatera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1/34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52576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PERTANYAAN PEMBUKA · SEHARI BERSAMA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8336"/>
            <a:ext cx="10911535" cy="4292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E8EEF8"/>
                </a:solidFill>
                <a:latin typeface="Plus Jakarta Sans"/>
              </a:rPr>
              <a:t>Berapa kali kamu menggunakan </a:t>
            </a:r>
            <a:r>
              <a:rPr sz="2600" b="1">
                <a:solidFill>
                  <a:srgbClr val="2DD4BF"/>
                </a:solidFill>
                <a:latin typeface="Plus Jakarta Sans"/>
              </a:rPr>
              <a:t>AI</a:t>
            </a:r>
            <a:r>
              <a:rPr sz="2600" b="1">
                <a:solidFill>
                  <a:srgbClr val="E8EEF8"/>
                </a:solidFill>
                <a:latin typeface="Plus Jakarta Sans"/>
              </a:rPr>
              <a:t> hari ini?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30476"/>
            <a:ext cx="2577007" cy="16497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67636"/>
            <a:ext cx="2302687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05.30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11476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Bangun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54376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Alarm pintar &amp; pelacak tidur smartwatch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8255" y="2030476"/>
            <a:ext cx="2577007" cy="16497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415" y="2167636"/>
            <a:ext cx="2302687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06.30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415" y="2411476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Bersiap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5415" y="2754376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Asisten suara: cuaca &amp; jadwal kuliah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2030476"/>
            <a:ext cx="2577007" cy="16497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2167636"/>
            <a:ext cx="2302687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07.15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3591" y="2411476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Berangkat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591" y="2754376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Maps, Gojek/Grab: prediksi macet, rute &amp; tarif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4607" y="2030476"/>
            <a:ext cx="2577007" cy="16497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1767" y="2167636"/>
            <a:ext cx="2302687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08.00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1767" y="2411476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Kuliah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1767" y="2754376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ChatGPT/Gemini meringkas materi, Translate, Grammarly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81374"/>
            <a:ext cx="2577007" cy="16497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18534"/>
            <a:ext cx="2302687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12.00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62374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Istirahat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05274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Rekomendasi GoFood, Face ID &amp; deteksi fraud e-wallet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18255" y="3881374"/>
            <a:ext cx="2577007" cy="16497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5415" y="4018534"/>
            <a:ext cx="2302687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15.00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5415" y="4262374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Tugas &amp; Riset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5415" y="4605274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GitHub Copilot, Perplexity/Elicit, NotebookLM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6431" y="3881374"/>
            <a:ext cx="2577007" cy="16497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3591" y="4018534"/>
            <a:ext cx="2302687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19.00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3591" y="4262374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Hiburan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3591" y="4605274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Rekomendasi TikTok, YouTube, Spotify, Netflix, filter 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4607" y="3881374"/>
            <a:ext cx="2577007" cy="16497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11767" y="4018534"/>
            <a:ext cx="2302687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22.30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1767" y="4262374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Menjelang tidur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1767" y="4605274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Feed media sosial dikurasi AI, Duolingo, mode tidur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2/34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7602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NARASUMBER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2400300"/>
            <a:ext cx="2194560" cy="219456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00300"/>
            <a:ext cx="2194560" cy="2194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5400" b="1">
                <a:solidFill>
                  <a:srgbClr val="0B1426"/>
                </a:solidFill>
                <a:latin typeface="Plus Jakarta Sans"/>
              </a:rPr>
              <a:t>RIK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125980"/>
            <a:ext cx="82597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E8EEF8"/>
                </a:solidFill>
                <a:latin typeface="Plus Jakarta Sans"/>
              </a:rPr>
              <a:t>Rahman Indra Kesuma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766060"/>
            <a:ext cx="8259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9FB2CF"/>
                </a:solidFill>
                <a:latin typeface="Plus Jakarta Sans"/>
              </a:rPr>
              <a:t>Dosen Tetap Teknik Informatika · Institut Teknologi Sumatera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223260"/>
            <a:ext cx="8259775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FB923C"/>
                </a:solidFill>
                <a:latin typeface="Plus Jakarta Sans"/>
              </a:rPr>
              <a:t>S3   </a:t>
            </a:r>
            <a:r>
              <a:rPr sz="1700" b="0">
                <a:solidFill>
                  <a:srgbClr val="E8EEF8"/>
                </a:solidFill>
                <a:latin typeface="Plus Jakarta Sans"/>
              </a:rPr>
              <a:t>Teknik Elektro &amp; Informatika — ITB (2021–sekarang)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589020"/>
            <a:ext cx="8259775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FB923C"/>
                </a:solidFill>
                <a:latin typeface="Plus Jakarta Sans"/>
              </a:rPr>
              <a:t>S2   </a:t>
            </a:r>
            <a:r>
              <a:rPr sz="1700" b="0">
                <a:solidFill>
                  <a:srgbClr val="E8EEF8"/>
                </a:solidFill>
                <a:latin typeface="Plus Jakarta Sans"/>
              </a:rPr>
              <a:t>Ilmu Komputer — Universitas Gadjah Mada (2013–2015)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954780"/>
            <a:ext cx="8259775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FB923C"/>
                </a:solidFill>
                <a:latin typeface="Plus Jakarta Sans"/>
              </a:rPr>
              <a:t>S1   </a:t>
            </a:r>
            <a:r>
              <a:rPr sz="1700" b="0">
                <a:solidFill>
                  <a:srgbClr val="E8EEF8"/>
                </a:solidFill>
                <a:latin typeface="Plus Jakarta Sans"/>
              </a:rPr>
              <a:t>Ilmu Komputer — Universitas Lampung (2008–2012)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457700"/>
            <a:ext cx="825977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DD4BF"/>
                </a:solidFill>
                <a:latin typeface="JetBrains Mono"/>
              </a:rPr>
              <a:t>Algoritma Pemrograman   ·   Struktur Data   ·   Strategi Algoritma   ·   Inteligensi Buatan   ·   Computational Intelligence   ·   Machine Learning   ·  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3/34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855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FOKUS RISET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431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Mengajari mesin </a:t>
            </a:r>
            <a:r>
              <a:rPr sz="3200" b="1">
                <a:solidFill>
                  <a:srgbClr val="FB923C"/>
                </a:solidFill>
                <a:latin typeface="Plus Jakarta Sans"/>
              </a:rPr>
              <a:t>memahami tindakan</a:t>
            </a:r>
            <a:r>
              <a:rPr sz="3200" b="1">
                <a:solidFill>
                  <a:srgbClr val="E8EEF8"/>
                </a:solidFill>
                <a:latin typeface="Plus Jakarta Sans"/>
              </a:rPr>
              <a:t> manusia dari video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9550"/>
            <a:ext cx="2487853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9550"/>
            <a:ext cx="2396413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Video CCTV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urutan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7933" y="2749550"/>
            <a:ext cx="320040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973" y="2749550"/>
            <a:ext cx="2487853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3693" y="2749550"/>
            <a:ext cx="2396413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Ekstraksi fitur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spasial (CNN) + temporal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5827" y="2749550"/>
            <a:ext cx="320040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2749550"/>
            <a:ext cx="2487853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1587" y="2749550"/>
            <a:ext cx="2396413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Human Activity Recognition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berjalan, berkelahi, mencuri…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3721" y="2749550"/>
            <a:ext cx="320040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3761" y="2749550"/>
            <a:ext cx="2487853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9481" y="2749550"/>
            <a:ext cx="2396413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Peringatan dini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domain kriminalitas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78300"/>
            <a:ext cx="3503066" cy="13068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1546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PUBLIKASI TERPILIH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5930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Edge coloring untuk penjadwalan sekolah (ICETD 2012)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4314" y="4178300"/>
            <a:ext cx="3503066" cy="13068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474" y="431546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PUBLIKASI TERPILIH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1474" y="455930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Regresi linier untuk early warning efisiensi listrik (SENATIK 2018)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8548" y="4178300"/>
            <a:ext cx="3503066" cy="13068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5708" y="431546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PUBLIKASI TERPILIH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5708" y="455930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Fuzzy logic prediksi curah hujan &amp; potensi longsor (IJISTECH 2021)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Data lengkap publikasi, penelitian &amp; HKI: SINTA ID 6647166 — sinta.kemdiktisaintek.go.id/authors/profile/6647166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4/34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2145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PETA PERJALANAN 60 MENIT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287905"/>
            <a:ext cx="3503066" cy="16497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25065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BABAK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68905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PETA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1805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Apa itu AI, ML, DL, dan empat keluarga arsitektur deep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4314" y="2287905"/>
            <a:ext cx="3503066" cy="16497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1474" y="2425065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BABAK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1474" y="2668905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GELOMBANG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1474" y="3011805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LLM, Multimodal AI, dan Agentic AI — tren riset saat 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8548" y="2287905"/>
            <a:ext cx="3503066" cy="16497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5708" y="2425065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BABAK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5708" y="2668905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KOMPAS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5708" y="3011805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Peluang di Riau &amp; Sumatera, etika, dan cara menemukan research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66235"/>
            <a:ext cx="73152" cy="495299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6235"/>
            <a:ext cx="10637215" cy="4952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Plus Jakarta Sans"/>
              </a:rPr>
              <a:t>Mulai dari </a:t>
            </a:r>
            <a:r>
              <a:rPr sz="3000" b="1">
                <a:solidFill>
                  <a:srgbClr val="FB923C"/>
                </a:solidFill>
                <a:latin typeface="Plus Jakarta Sans"/>
              </a:rPr>
              <a:t>masalah</a:t>
            </a:r>
            <a:r>
              <a:rPr sz="3000" b="1">
                <a:solidFill>
                  <a:srgbClr val="E8EEF8"/>
                </a:solidFill>
                <a:latin typeface="Plus Jakarta Sans"/>
              </a:rPr>
              <a:t>, bukan dari </a:t>
            </a:r>
            <a:r>
              <a:rPr sz="3000" b="1">
                <a:solidFill>
                  <a:srgbClr val="2DD4BF"/>
                </a:solidFill>
                <a:latin typeface="Plus Jakarta Sans"/>
              </a:rPr>
              <a:t>model</a:t>
            </a:r>
            <a:r>
              <a:rPr sz="3000" b="1">
                <a:solidFill>
                  <a:srgbClr val="E8EEF8"/>
                </a:solidFill>
                <a:latin typeface="Plus Jakarta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5/34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1 · PETA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5906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DEFINISI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91666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Apa itu Kecerdasan Buatan?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586"/>
            <a:ext cx="73152" cy="11582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586"/>
            <a:ext cx="10637215" cy="792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E8EEF8"/>
                </a:solidFill>
                <a:latin typeface="Plus Jakarta Sans"/>
              </a:rPr>
              <a:t>"The science and engineering of making intelligent machines."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41066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FB2CF"/>
                </a:solidFill>
                <a:latin typeface="Plus Jakarta Sans"/>
              </a:rPr>
              <a:t>— John McCarthy, Dartmouth Workshop 1956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35426"/>
            <a:ext cx="5355183" cy="91059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672586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Berpikir seperti manusia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15486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Cognitive modeling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3535426"/>
            <a:ext cx="5355183" cy="91059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3591" y="3672586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Bertindak seperti manusia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591" y="4015486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Turing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47184"/>
            <a:ext cx="5355183" cy="91059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84344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Berpikir rasional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7244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Logika &amp; inferensi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1" y="4647184"/>
            <a:ext cx="5355183" cy="91059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3591" y="4784344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Bertindak rasional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5127244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2DD4BF"/>
                </a:solidFill>
                <a:latin typeface="Plus Jakarta Sans"/>
              </a:rPr>
              <a:t>Rational agent</a:t>
            </a:r>
            <a:r>
              <a:rPr sz="1500" b="0">
                <a:solidFill>
                  <a:srgbClr val="9FB2CF"/>
                </a:solidFill>
                <a:latin typeface="Plus Jakarta Sans"/>
              </a:rPr>
              <a:t> — pendekatan dominan hari 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Russell &amp; Norvig, Artificial Intelligence: A Modern Approach, 4th ed., Pearson, 2021.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6/34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1 · PETA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4879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SEJARAH SINGKAT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1455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70 tahun, beberapa musim dingin, satu ledakan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054350"/>
            <a:ext cx="10911535" cy="0"/>
          </a:xfrm>
          <a:prstGeom prst="line">
            <a:avLst/>
          </a:prstGeom>
          <a:ln w="381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430502" y="2935478"/>
            <a:ext cx="237744" cy="237744"/>
          </a:xfrm>
          <a:prstGeom prst="ellipse">
            <a:avLst/>
          </a:prstGeom>
          <a:solidFill>
            <a:srgbClr val="0B1426"/>
          </a:solidFill>
          <a:ln w="381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82950"/>
            <a:ext cx="1818589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B923C"/>
                </a:solidFill>
                <a:latin typeface="Plus Jakarta Sans"/>
              </a:rPr>
              <a:t>1956</a:t>
            </a:r>
          </a:p>
          <a:p>
            <a:pPr algn="ctr"/>
            <a:r>
              <a:rPr sz="1400" b="0">
                <a:solidFill>
                  <a:srgbClr val="E8EEF8"/>
                </a:solidFill>
                <a:latin typeface="Plus Jakarta Sans"/>
              </a:rPr>
              <a:t>Dartmouth: istilah "AI" lahir</a:t>
            </a:r>
          </a:p>
        </p:txBody>
      </p:sp>
      <p:sp>
        <p:nvSpPr>
          <p:cNvPr id="8" name="Oval 7"/>
          <p:cNvSpPr/>
          <p:nvPr/>
        </p:nvSpPr>
        <p:spPr>
          <a:xfrm>
            <a:off x="3249091" y="2935478"/>
            <a:ext cx="237744" cy="237744"/>
          </a:xfrm>
          <a:prstGeom prst="ellipse">
            <a:avLst/>
          </a:prstGeom>
          <a:solidFill>
            <a:srgbClr val="0B1426"/>
          </a:solidFill>
          <a:ln w="381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8669" y="3282950"/>
            <a:ext cx="1818589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B923C"/>
                </a:solidFill>
                <a:latin typeface="Plus Jakarta Sans"/>
              </a:rPr>
              <a:t>1970–90an</a:t>
            </a:r>
          </a:p>
          <a:p>
            <a:pPr algn="ctr"/>
            <a:r>
              <a:rPr sz="1400" b="0">
                <a:solidFill>
                  <a:srgbClr val="E8EEF8"/>
                </a:solidFill>
                <a:latin typeface="Plus Jakarta Sans"/>
              </a:rPr>
              <a:t>AI Winter &amp; sistem pakar</a:t>
            </a:r>
          </a:p>
        </p:txBody>
      </p:sp>
      <p:sp>
        <p:nvSpPr>
          <p:cNvPr id="10" name="Oval 9"/>
          <p:cNvSpPr/>
          <p:nvPr/>
        </p:nvSpPr>
        <p:spPr>
          <a:xfrm>
            <a:off x="5067680" y="2935478"/>
            <a:ext cx="237744" cy="237744"/>
          </a:xfrm>
          <a:prstGeom prst="ellipse">
            <a:avLst/>
          </a:prstGeom>
          <a:solidFill>
            <a:srgbClr val="0B1426"/>
          </a:solidFill>
          <a:ln w="381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7258" y="3282950"/>
            <a:ext cx="1818589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B923C"/>
                </a:solidFill>
                <a:latin typeface="Plus Jakarta Sans"/>
              </a:rPr>
              <a:t>2012</a:t>
            </a:r>
          </a:p>
          <a:p>
            <a:pPr algn="ctr"/>
            <a:r>
              <a:rPr sz="1400" b="0">
                <a:solidFill>
                  <a:srgbClr val="E8EEF8"/>
                </a:solidFill>
                <a:latin typeface="Plus Jakarta Sans"/>
              </a:rPr>
              <a:t>AlexNet menang ImageNet</a:t>
            </a:r>
          </a:p>
        </p:txBody>
      </p:sp>
      <p:sp>
        <p:nvSpPr>
          <p:cNvPr id="12" name="Oval 11"/>
          <p:cNvSpPr/>
          <p:nvPr/>
        </p:nvSpPr>
        <p:spPr>
          <a:xfrm>
            <a:off x="6886270" y="2935478"/>
            <a:ext cx="237744" cy="237744"/>
          </a:xfrm>
          <a:prstGeom prst="ellipse">
            <a:avLst/>
          </a:prstGeom>
          <a:solidFill>
            <a:srgbClr val="0B1426"/>
          </a:solidFill>
          <a:ln w="381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5847" y="3282950"/>
            <a:ext cx="1818589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B923C"/>
                </a:solidFill>
                <a:latin typeface="Plus Jakarta Sans"/>
              </a:rPr>
              <a:t>2017</a:t>
            </a:r>
          </a:p>
          <a:p>
            <a:pPr algn="ctr"/>
            <a:r>
              <a:rPr sz="1400" b="0">
                <a:solidFill>
                  <a:srgbClr val="E8EEF8"/>
                </a:solidFill>
                <a:latin typeface="Plus Jakarta Sans"/>
              </a:rPr>
              <a:t>Transformer: "Attention Is All You Need"</a:t>
            </a:r>
          </a:p>
        </p:txBody>
      </p:sp>
      <p:sp>
        <p:nvSpPr>
          <p:cNvPr id="14" name="Oval 13"/>
          <p:cNvSpPr/>
          <p:nvPr/>
        </p:nvSpPr>
        <p:spPr>
          <a:xfrm>
            <a:off x="8704859" y="2935478"/>
            <a:ext cx="237744" cy="237744"/>
          </a:xfrm>
          <a:prstGeom prst="ellipse">
            <a:avLst/>
          </a:prstGeom>
          <a:solidFill>
            <a:srgbClr val="0B1426"/>
          </a:solidFill>
          <a:ln w="381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4436" y="3282950"/>
            <a:ext cx="1818589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B923C"/>
                </a:solidFill>
                <a:latin typeface="Plus Jakarta Sans"/>
              </a:rPr>
              <a:t>2022</a:t>
            </a:r>
          </a:p>
          <a:p>
            <a:pPr algn="ctr"/>
            <a:r>
              <a:rPr sz="1400" b="0">
                <a:solidFill>
                  <a:srgbClr val="E8EEF8"/>
                </a:solidFill>
                <a:latin typeface="Plus Jakarta Sans"/>
              </a:rPr>
              <a:t>ChatGPT: AI generatif massal</a:t>
            </a:r>
          </a:p>
        </p:txBody>
      </p:sp>
      <p:sp>
        <p:nvSpPr>
          <p:cNvPr id="16" name="Oval 15"/>
          <p:cNvSpPr/>
          <p:nvPr/>
        </p:nvSpPr>
        <p:spPr>
          <a:xfrm>
            <a:off x="10523448" y="2935478"/>
            <a:ext cx="237744" cy="237744"/>
          </a:xfrm>
          <a:prstGeom prst="ellipse">
            <a:avLst/>
          </a:prstGeom>
          <a:solidFill>
            <a:srgbClr val="0B1426"/>
          </a:solidFill>
          <a:ln w="381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3025" y="3282950"/>
            <a:ext cx="1818589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B923C"/>
                </a:solidFill>
                <a:latin typeface="Plus Jakarta Sans"/>
              </a:rPr>
              <a:t>2025+</a:t>
            </a:r>
          </a:p>
          <a:p>
            <a:pPr algn="ctr"/>
            <a:r>
              <a:rPr sz="1400" b="0">
                <a:solidFill>
                  <a:srgbClr val="E8EEF8"/>
                </a:solidFill>
                <a:latin typeface="Plus Jakarta Sans"/>
              </a:rPr>
              <a:t>Agentic &amp; Multimodal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17390"/>
            <a:ext cx="10911535" cy="3632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9FB2CF"/>
                </a:solidFill>
                <a:latin typeface="Plus Jakarta Sans"/>
              </a:rPr>
              <a:t>Pemicu ledakan: </a:t>
            </a:r>
            <a:r>
              <a:rPr sz="2200" b="0">
                <a:solidFill>
                  <a:srgbClr val="2DD4BF"/>
                </a:solidFill>
                <a:latin typeface="Plus Jakarta Sans"/>
              </a:rPr>
              <a:t>data</a:t>
            </a:r>
            <a:r>
              <a:rPr sz="2200" b="0">
                <a:solidFill>
                  <a:srgbClr val="9FB2CF"/>
                </a:solidFill>
                <a:latin typeface="Plus Jakarta Sans"/>
              </a:rPr>
              <a:t> + </a:t>
            </a:r>
            <a:r>
              <a:rPr sz="2200" b="0">
                <a:solidFill>
                  <a:srgbClr val="2DD4BF"/>
                </a:solidFill>
                <a:latin typeface="Plus Jakarta Sans"/>
              </a:rPr>
              <a:t>GPU</a:t>
            </a:r>
            <a:r>
              <a:rPr sz="2200" b="0">
                <a:solidFill>
                  <a:srgbClr val="9FB2CF"/>
                </a:solidFill>
                <a:latin typeface="Plus Jakarta Sans"/>
              </a:rPr>
              <a:t> + </a:t>
            </a:r>
            <a:r>
              <a:rPr sz="2200" b="0">
                <a:solidFill>
                  <a:srgbClr val="2DD4BF"/>
                </a:solidFill>
                <a:latin typeface="Plus Jakarta Sans"/>
              </a:rPr>
              <a:t>algoritma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Krizhevsky dkk., NeurIPS 2012; Vaswani dkk., NeurIPS 2017; Stanford HAI, AI Index Report 2025.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7/34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1 · PETA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HUBUNGAN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AI, Machine Learning, Deep Learning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08480"/>
            <a:ext cx="4206240" cy="4206240"/>
          </a:xfrm>
          <a:prstGeom prst="ellipse">
            <a:avLst/>
          </a:prstGeom>
          <a:solidFill>
            <a:srgbClr val="172A4A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4564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60A5FA"/>
                </a:solidFill>
                <a:latin typeface="Plus Jakarta Sans"/>
              </a:rPr>
              <a:t>Artificial Intelligence</a:t>
            </a:r>
          </a:p>
        </p:txBody>
      </p:sp>
      <p:sp>
        <p:nvSpPr>
          <p:cNvPr id="7" name="Oval 6"/>
          <p:cNvSpPr/>
          <p:nvPr/>
        </p:nvSpPr>
        <p:spPr>
          <a:xfrm>
            <a:off x="1234440" y="2562859"/>
            <a:ext cx="3200400" cy="3200400"/>
          </a:xfrm>
          <a:prstGeom prst="ellipse">
            <a:avLst/>
          </a:prstGeom>
          <a:solidFill>
            <a:srgbClr val="172A4A"/>
          </a:solidFill>
          <a:ln w="317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70001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2DD4BF"/>
                </a:solidFill>
                <a:latin typeface="Plus Jakarta Sans"/>
              </a:rPr>
              <a:t>Machine Learning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3317240"/>
            <a:ext cx="2194560" cy="2194560"/>
          </a:xfrm>
          <a:prstGeom prst="ellipse">
            <a:avLst/>
          </a:prstGeom>
          <a:solidFill>
            <a:srgbClr val="172A4A"/>
          </a:solidFill>
          <a:ln w="317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345440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B923C"/>
                </a:solidFill>
                <a:latin typeface="Plus Jakarta Sans"/>
              </a:rPr>
              <a:t>Deep Learning</a:t>
            </a:r>
          </a:p>
        </p:txBody>
      </p:sp>
      <p:sp>
        <p:nvSpPr>
          <p:cNvPr id="11" name="Oval 10"/>
          <p:cNvSpPr/>
          <p:nvPr/>
        </p:nvSpPr>
        <p:spPr>
          <a:xfrm>
            <a:off x="2240280" y="4071619"/>
            <a:ext cx="1188720" cy="1188720"/>
          </a:xfrm>
          <a:prstGeom prst="ellipse">
            <a:avLst/>
          </a:prstGeom>
          <a:solidFill>
            <a:srgbClr val="172A4A"/>
          </a:solidFill>
          <a:ln w="317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4391659"/>
            <a:ext cx="1188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ACC15"/>
                </a:solidFill>
                <a:latin typeface="Plus Jakarta Sans"/>
              </a:rPr>
              <a:t>Generative AI /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22880"/>
            <a:ext cx="579089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2DD4BF"/>
                </a:solidFill>
                <a:latin typeface="Plus Jakarta Sans"/>
              </a:rPr>
              <a:t>AI</a:t>
            </a:r>
            <a:r>
              <a:rPr sz="1900" b="0">
                <a:solidFill>
                  <a:srgbClr val="E8EEF8"/>
                </a:solidFill>
                <a:latin typeface="Plus Jakarta Sans"/>
              </a:rPr>
              <a:t> — mesin yang meniru perilaku cerdas (termasuk aturan &amp; pencarian)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408680"/>
            <a:ext cx="579089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2DD4BF"/>
                </a:solidFill>
                <a:latin typeface="Plus Jakarta Sans"/>
              </a:rPr>
              <a:t>ML</a:t>
            </a:r>
            <a:r>
              <a:rPr sz="1900" b="0">
                <a:solidFill>
                  <a:srgbClr val="E8EEF8"/>
                </a:solidFill>
                <a:latin typeface="Plus Jakarta Sans"/>
              </a:rPr>
              <a:t> — belajar pola dari </a:t>
            </a:r>
            <a:r>
              <a:rPr sz="1900" b="0">
                <a:solidFill>
                  <a:srgbClr val="FB923C"/>
                </a:solidFill>
                <a:latin typeface="Plus Jakarta Sans"/>
              </a:rPr>
              <a:t>data</a:t>
            </a:r>
            <a:r>
              <a:rPr sz="1900" b="0">
                <a:solidFill>
                  <a:srgbClr val="E8EEF8"/>
                </a:solidFill>
                <a:latin typeface="Plus Jakarta Sans"/>
              </a:rPr>
              <a:t>, bukan diprogram eksplisit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094480"/>
            <a:ext cx="579089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2DD4BF"/>
                </a:solidFill>
                <a:latin typeface="Plus Jakarta Sans"/>
              </a:rPr>
              <a:t>DL</a:t>
            </a:r>
            <a:r>
              <a:rPr sz="1900" b="0">
                <a:solidFill>
                  <a:srgbClr val="E8EEF8"/>
                </a:solidFill>
                <a:latin typeface="Plus Jakarta Sans"/>
              </a:rPr>
              <a:t> — ML dengan jaringan saraf </a:t>
            </a:r>
            <a:r>
              <a:rPr sz="1900" b="0">
                <a:solidFill>
                  <a:srgbClr val="FB923C"/>
                </a:solidFill>
                <a:latin typeface="Plus Jakarta Sans"/>
              </a:rPr>
              <a:t>berlapis-lapis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780280"/>
            <a:ext cx="579089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2DD4BF"/>
                </a:solidFill>
                <a:latin typeface="Plus Jakarta Sans"/>
              </a:rPr>
              <a:t>GenAI</a:t>
            </a:r>
            <a:r>
              <a:rPr sz="1900" b="0">
                <a:solidFill>
                  <a:srgbClr val="E8EEF8"/>
                </a:solidFill>
                <a:latin typeface="Plus Jakarta Sans"/>
              </a:rPr>
              <a:t> — DL yang mampu </a:t>
            </a:r>
            <a:r>
              <a:rPr sz="1900" b="0">
                <a:solidFill>
                  <a:srgbClr val="FB923C"/>
                </a:solidFill>
                <a:latin typeface="Plus Jakarta Sans"/>
              </a:rPr>
              <a:t>menciptakan</a:t>
            </a:r>
            <a:r>
              <a:rPr sz="1900" b="0">
                <a:solidFill>
                  <a:srgbClr val="E8EEF8"/>
                </a:solidFill>
                <a:latin typeface="Plus Jakarta Sans"/>
              </a:rPr>
              <a:t> konten baru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Goodfellow, Bengio &amp; Courville, Deep Learning, MIT Press, 2016.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8/34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1 · PETA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8496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PERBEDAAN KUNCI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5072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Siapa yang merancang fitur?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07640"/>
            <a:ext cx="5355183" cy="17449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44800"/>
            <a:ext cx="5080863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MACHINE LEARNING KLASIK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88640"/>
            <a:ext cx="1480261" cy="59436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88640"/>
            <a:ext cx="1388821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8EEF8"/>
                </a:solidFill>
                <a:latin typeface="Plus Jakarta Sans"/>
              </a:rPr>
              <a:t>Citra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501" y="3088640"/>
            <a:ext cx="3200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77541" y="3088640"/>
            <a:ext cx="1480261" cy="59436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3261" y="3088640"/>
            <a:ext cx="1388821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8EEF8"/>
                </a:solidFill>
                <a:latin typeface="Plus Jakarta Sans"/>
              </a:rPr>
              <a:t>Manusia pilih fitur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7802" y="3088640"/>
            <a:ext cx="3200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7842" y="3088640"/>
            <a:ext cx="1480261" cy="59436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3562" y="3088640"/>
            <a:ext cx="1388821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8EEF8"/>
                </a:solidFill>
                <a:latin typeface="Plus Jakarta Sans"/>
              </a:rPr>
              <a:t>SVM / 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74440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Cocok untuk data tabular kecil, mudah dijelaskan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1" y="2707640"/>
            <a:ext cx="5355183" cy="17449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3591" y="2844800"/>
            <a:ext cx="5080863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DEEP LEARNING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3591" y="3088640"/>
            <a:ext cx="1480261" cy="59436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9311" y="3088640"/>
            <a:ext cx="1388821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8EEF8"/>
                </a:solidFill>
                <a:latin typeface="Plus Jakarta Sans"/>
              </a:rPr>
              <a:t>Citra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3852" y="3088640"/>
            <a:ext cx="3200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3892" y="3088640"/>
            <a:ext cx="1480261" cy="59436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9612" y="3088640"/>
            <a:ext cx="1388821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8EEF8"/>
                </a:solidFill>
                <a:latin typeface="Plus Jakarta Sans"/>
              </a:rPr>
              <a:t>Jaringan belajar fitur sendiri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4153" y="3088640"/>
            <a:ext cx="3200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34193" y="3088640"/>
            <a:ext cx="1480261" cy="59436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79913" y="3088640"/>
            <a:ext cx="1388821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8EEF8"/>
                </a:solidFill>
                <a:latin typeface="Plus Jakarta Sans"/>
              </a:rPr>
              <a:t>Prediksi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3591" y="3774440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Butuh data &amp; GPU besar, unggul pada citra, suara, teks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81220"/>
            <a:ext cx="10911535" cy="3632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9FB2CF"/>
                </a:solidFill>
                <a:latin typeface="Plus Jakarta Sans"/>
              </a:rPr>
              <a:t>Pilih metode sesuai </a:t>
            </a:r>
            <a:r>
              <a:rPr sz="2200" b="0">
                <a:solidFill>
                  <a:srgbClr val="2DD4BF"/>
                </a:solidFill>
                <a:latin typeface="Plus Jakarta Sans"/>
              </a:rPr>
              <a:t>masalah dan data</a:t>
            </a:r>
            <a:r>
              <a:rPr sz="2200" b="0">
                <a:solidFill>
                  <a:srgbClr val="9FB2CF"/>
                </a:solidFill>
                <a:latin typeface="Plus Jakarta Sans"/>
              </a:rPr>
              <a:t>, bukan sesuai tren.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LeCun, Bengio &amp; Hinton, "Deep learning", Nature 521, 2015.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9/34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1 · PETA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7485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EMPAT KELUARGA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33245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Arsitektur deep learning, menurut jenis datanya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18485"/>
            <a:ext cx="2577007" cy="145161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55645"/>
            <a:ext cx="2302687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MELIHAT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99485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Computer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2385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Citra &amp; video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8255" y="3118485"/>
            <a:ext cx="2577007" cy="145161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5415" y="3255645"/>
            <a:ext cx="2302687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MENGINGAT URUTAN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5415" y="3499485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Sequential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5415" y="3842385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Teks, suara, deret waktu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3118485"/>
            <a:ext cx="2577007" cy="145161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91" y="3255645"/>
            <a:ext cx="2302687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MENCOBA &amp; BELAJAR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591" y="3499485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Reinforcement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3591" y="4139565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Keputusan &amp; aksi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4607" y="3118485"/>
            <a:ext cx="2577007" cy="145161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1767" y="3255645"/>
            <a:ext cx="2302687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MENCIPTA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1767" y="3499485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Generative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1767" y="4139565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Data &amp; konten baru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98695"/>
            <a:ext cx="10911535" cy="3632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9FB2CF"/>
                </a:solidFill>
                <a:latin typeface="Plus Jakarta Sans"/>
              </a:rPr>
              <a:t>Empat kemampuan manusia — empat keluarga arsitektur.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Struktur mengikuti MIT 6.S191 Introduction to Deep Learning (introtodeeplearning.com).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10/34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1 · PETA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86535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01 · DEEP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2295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Mengajari mesin </a:t>
            </a:r>
            <a:r>
              <a:rPr sz="3200" b="1">
                <a:solidFill>
                  <a:srgbClr val="FB923C"/>
                </a:solidFill>
                <a:latin typeface="Plus Jakarta Sans"/>
              </a:rPr>
              <a:t>melihat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09215"/>
            <a:ext cx="2487853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09215"/>
            <a:ext cx="2396413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Konvolusi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tepi, tekstur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933" y="2609215"/>
            <a:ext cx="320040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973" y="2609215"/>
            <a:ext cx="2487853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693" y="2609215"/>
            <a:ext cx="2396413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Pooling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ringkas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5827" y="2609215"/>
            <a:ext cx="320040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609215"/>
            <a:ext cx="2487853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1587" y="2609215"/>
            <a:ext cx="2396413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Lapisan dalam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bentuk, objek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3721" y="2609215"/>
            <a:ext cx="320040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3761" y="2609215"/>
            <a:ext cx="2487853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9481" y="2609215"/>
            <a:ext cx="2396413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Klasifikasi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"asap"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0315"/>
            <a:ext cx="5355183" cy="13068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27475"/>
            <a:ext cx="5080863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ARSITEKTUR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71315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CNN · ResNet · YOLO · U-Net · Vision Transformer (ViT)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6431" y="3790315"/>
            <a:ext cx="5355183" cy="13068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3591" y="3927475"/>
            <a:ext cx="5080863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DI DUNIA NYATA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4171315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Deteksi asap dari kamera menara · penyakit daun sawit · CCTV pengenalan aktivitas · citra medis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He dkk., ResNet, CVPR 2016; Redmon dkk., YOLO, CVPR 2016; Dosovitskiy dkk., ViT, ICLR 2021.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11/34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1 · PETA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1036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02 · DEEP SEQUENTIAL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7612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Mengajari mesin </a:t>
            </a:r>
            <a:r>
              <a:rPr sz="3200" b="1">
                <a:solidFill>
                  <a:srgbClr val="FB923C"/>
                </a:solidFill>
                <a:latin typeface="Plus Jakarta Sans"/>
              </a:rPr>
              <a:t>mengingat urutan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33040"/>
            <a:ext cx="1926275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33040"/>
            <a:ext cx="1834835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x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6355" y="2733040"/>
            <a:ext cx="320040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6395" y="2733040"/>
            <a:ext cx="1926275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2115" y="2733040"/>
            <a:ext cx="1834835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x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2670" y="2733040"/>
            <a:ext cx="320040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2710" y="2733040"/>
            <a:ext cx="1926275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8430" y="2733040"/>
            <a:ext cx="1834835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x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8985" y="2733040"/>
            <a:ext cx="320040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9025" y="2733040"/>
            <a:ext cx="1926275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745" y="2733040"/>
            <a:ext cx="1834835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Memori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konteks sebelumnya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5300" y="2733040"/>
            <a:ext cx="320040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25340" y="2733040"/>
            <a:ext cx="1926275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71060" y="2733040"/>
            <a:ext cx="1834835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Prediksi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langkah berikutnya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14140"/>
            <a:ext cx="5355183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51300"/>
            <a:ext cx="5080863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ARSITEKTUR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95140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RNN · LSTM · GRU · Temporal CNN · Transformer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6431" y="3914140"/>
            <a:ext cx="5355183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3591" y="4051300"/>
            <a:ext cx="5080863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DI DUNIA NYATA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591" y="4295140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Prediksi titik panas &amp; curah hujan · harga TBS sawit · speech-to-text · terjemahan mesin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Hochreiter &amp; Schmidhuber, LSTM, Neural Computation 1997; Cho dkk., GRU, EMNLP 2014.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12/34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1 · PETA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6083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03 · DEEP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659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Mengajari mesin lewat </a:t>
            </a:r>
            <a:r>
              <a:rPr sz="3200" b="1">
                <a:solidFill>
                  <a:srgbClr val="FB923C"/>
                </a:solidFill>
                <a:latin typeface="Plus Jakarta Sans"/>
              </a:rPr>
              <a:t>coba-coba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68351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83510"/>
            <a:ext cx="237744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E8EEF8"/>
                </a:solidFill>
                <a:latin typeface="Plus Jakarta Sans"/>
              </a:rPr>
              <a:t>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08415" y="268351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08415" y="2683510"/>
            <a:ext cx="237744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E8EEF8"/>
                </a:solidFill>
                <a:latin typeface="Plus Jakarta Sans"/>
              </a:rPr>
              <a:t>Environment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0" y="2957830"/>
            <a:ext cx="5425135" cy="0"/>
          </a:xfrm>
          <a:prstGeom prst="line">
            <a:avLst/>
          </a:prstGeom>
          <a:ln w="317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83280" y="2573782"/>
            <a:ext cx="542513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2DD4BF"/>
                </a:solidFill>
                <a:latin typeface="Plus Jakarta Sans"/>
              </a:rPr>
              <a:t>aksi →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383280" y="3323590"/>
            <a:ext cx="5425135" cy="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83280" y="3369310"/>
            <a:ext cx="542513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FB923C"/>
                </a:solidFill>
                <a:latin typeface="Plus Jakarta Sans"/>
              </a:rPr>
              <a:t>← state baru + reward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63670"/>
            <a:ext cx="5355183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00830"/>
            <a:ext cx="5080863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ARSITEKTUR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4670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DQN · PPO · Actor-Critic · AlphaGo/AlphaZero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1" y="3963670"/>
            <a:ext cx="5355183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3591" y="4100830"/>
            <a:ext cx="5080863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DI DUNIA NYATA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3591" y="4344670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Lampu lalu lintas adaptif · robot gudang · rute drone patroli · RLHF untuk ChatGPT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Mnih dkk., Nature 2015; Silver dkk., Nature 2016; Sutton &amp; Barto, Reinforcement Learning, 2nd ed., 2018.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13/34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1 · PETA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8557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04 · DEEP GENERATIVE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133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Mengajari mesin </a:t>
            </a:r>
            <a:r>
              <a:rPr sz="3200" b="1">
                <a:solidFill>
                  <a:srgbClr val="FB923C"/>
                </a:solidFill>
                <a:latin typeface="Plus Jakarta Sans"/>
              </a:rPr>
              <a:t>mencipta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08250"/>
            <a:ext cx="3503066" cy="14020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4541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VAE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9250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Kompres → bangun ulang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3215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Ruang laten yang halus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4314" y="2508250"/>
            <a:ext cx="3503066" cy="14020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1474" y="264541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1474" y="2889250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Pemalsu vs detektif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1474" y="323215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Generator dan diskriminator saling berlomba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2508250"/>
            <a:ext cx="3503066" cy="14020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5708" y="264541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DIFFUSION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5708" y="2889250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Noise → gambar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5708" y="323215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Menghapus derau langkah demi langkah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38930"/>
            <a:ext cx="10911535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76090"/>
            <a:ext cx="1063721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DI DUNIA NYATA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19930"/>
            <a:ext cx="1063721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Augmentasi data langka (citra kebakaran, penyakit langka) · text-to-image · desain produk · </a:t>
            </a:r>
            <a:r>
              <a:rPr sz="1500" b="0">
                <a:solidFill>
                  <a:srgbClr val="FB923C"/>
                </a:solidFill>
                <a:latin typeface="Plus Jakarta Sans"/>
              </a:rPr>
              <a:t>tetapi juga deepfake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Kingma &amp; Welling, VAE, ICLR 2014; Goodfellow dkk., GAN, NeurIPS 2014; Ho dkk., DDPM, NeurIPS 2020.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14/34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1 · PETA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332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RANGKUMAN BABAK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9898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Satu masalah, empat cara pandang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755900"/>
          <a:ext cx="1091153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7638074"/>
              </a:tblGrid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DD4BF"/>
                          </a:solidFill>
                          <a:latin typeface="Plus Jakarta Sans"/>
                        </a:rPr>
                        <a:t>Keluarga</a:t>
                      </a:r>
                    </a:p>
                  </a:txBody>
                  <a:tcPr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DD4BF"/>
                          </a:solidFill>
                          <a:latin typeface="Plus Jakarta Sans"/>
                        </a:rPr>
                        <a:t>Pertanyaan pada kasus karhutla Riau</a:t>
                      </a:r>
                    </a:p>
                  </a:txBody>
                  <a:tcPr>
                    <a:solidFill>
                      <a:srgbClr val="17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9FB2CF"/>
                          </a:solidFill>
                          <a:latin typeface="Plus Jakarta Sans"/>
                        </a:rPr>
                        <a:t>Computer Vision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EF8"/>
                          </a:solidFill>
                          <a:latin typeface="Plus Jakarta Sans"/>
                        </a:rPr>
                        <a:t>Apakah ada asap di citra kamera/satelit ini?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9FB2CF"/>
                          </a:solidFill>
                          <a:latin typeface="Plus Jakarta Sans"/>
                        </a:rPr>
                        <a:t>Sequential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EF8"/>
                          </a:solidFill>
                          <a:latin typeface="Plus Jakarta Sans"/>
                        </a:rPr>
                        <a:t>Kapan &amp; di mana hotspot berikutnya muncul?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9FB2CF"/>
                          </a:solidFill>
                          <a:latin typeface="Plus Jakarta Sans"/>
                        </a:rPr>
                        <a:t>Reinforcement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EF8"/>
                          </a:solidFill>
                          <a:latin typeface="Plus Jakarta Sans"/>
                        </a:rPr>
                        <a:t>Ke mana tim/drone patroli harus bergerak?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9FB2CF"/>
                          </a:solidFill>
                          <a:latin typeface="Plus Jakarta Sans"/>
                        </a:rPr>
                        <a:t>Generative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EF8"/>
                          </a:solidFill>
                          <a:latin typeface="Plus Jakarta Sans"/>
                        </a:rPr>
                        <a:t>Bagaimana menambah data citra kebakaran yang langka?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15/34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2 · GELOMBANG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54505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LARGE LANGUAGE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20265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Mengapa LLM menjadi pusat riset?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77185"/>
            <a:ext cx="3503066" cy="140589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014345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Skala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57245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Performa naik terprediksi seiring data, parameter, dan komputasi (scaling laws)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4314" y="2877185"/>
            <a:ext cx="3503066" cy="140589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1474" y="3014345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Serba bisa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1474" y="3357245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Satu model: menjawab, meringkas, menulis kode, menalar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8548" y="2877185"/>
            <a:ext cx="3503066" cy="140589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5708" y="3014345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Antarmuka baru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5708" y="3357245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Bahasa alami menjadi "bahasa pemrograman" baru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11675"/>
            <a:ext cx="10911535" cy="3632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9FB2CF"/>
                </a:solidFill>
                <a:latin typeface="Plus Jakarta Sans"/>
              </a:rPr>
              <a:t>LLM = </a:t>
            </a:r>
            <a:r>
              <a:rPr sz="2200" b="0">
                <a:solidFill>
                  <a:srgbClr val="2DD4BF"/>
                </a:solidFill>
                <a:latin typeface="Plus Jakarta Sans"/>
              </a:rPr>
              <a:t>foundation model</a:t>
            </a:r>
            <a:r>
              <a:rPr sz="2200" b="0">
                <a:solidFill>
                  <a:srgbClr val="9FB2CF"/>
                </a:solidFill>
                <a:latin typeface="Plus Jakarta Sans"/>
              </a:rPr>
              <a:t> yang menjadi dasar banyak aplikasi 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Kaplan dkk., "Scaling Laws for Neural Language Models", 2020; Bommasani dkk., "On the Opportunities and Risks of Foundation Models", Stanford, 2021.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16/34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2 · GELOMBANG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75765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CARA KERJA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41525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Pada intinya: menebak </a:t>
            </a:r>
            <a:r>
              <a:rPr sz="3200" b="1">
                <a:solidFill>
                  <a:srgbClr val="FB923C"/>
                </a:solidFill>
                <a:latin typeface="Plus Jakarta Sans"/>
              </a:rPr>
              <a:t>kata berikutnya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98445"/>
            <a:ext cx="2487853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98445"/>
            <a:ext cx="2396413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Tokenisasi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"Asap tebal di" →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933" y="2798445"/>
            <a:ext cx="320040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973" y="2798445"/>
            <a:ext cx="2487853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693" y="2798445"/>
            <a:ext cx="2396413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Embedding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token → vektor makna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5827" y="2798445"/>
            <a:ext cx="320040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798445"/>
            <a:ext cx="2487853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1587" y="2798445"/>
            <a:ext cx="2396413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Self-attention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setiap kata "melihat" kata 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3721" y="2798445"/>
            <a:ext cx="320040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3761" y="2798445"/>
            <a:ext cx="2487853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9481" y="2798445"/>
            <a:ext cx="2396413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Probabilitas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"Pekanbaru" 0.41 "Dumai" 0.22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27195"/>
            <a:ext cx="10911535" cy="726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9FB2CF"/>
                </a:solidFill>
                <a:latin typeface="Plus Jakarta Sans"/>
              </a:rPr>
              <a:t>Diulang miliaran kali → muncul kemampuan bahasa, pengetahuan, dan penalaran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Vaswani dkk., "Attention Is All You Need", NeurIPS 2017; Jurafsky &amp; Martin, Speech and Language Processing, 3rd ed. draft.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17/34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2 · GELOMBANG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3891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ARSITEKTUR &amp; PELATIHAN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0467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Keluarga Transformer dan tiga tahap pelatihan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1590"/>
            <a:ext cx="3503066" cy="14020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9875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42590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BERT, IndoBERT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8549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Memahami: klasifikasi, sentimen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4314" y="2561590"/>
            <a:ext cx="3503066" cy="14020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1474" y="269875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DECODER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1474" y="2942590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GPT, LLaMA, 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1474" y="328549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Menghasilkan teks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2561590"/>
            <a:ext cx="3503066" cy="14020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5708" y="269875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ENCODER-DECODER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5708" y="2942590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T5, BART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5708" y="328549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Terjemahan, ringkasan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92270"/>
            <a:ext cx="3423818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92270"/>
            <a:ext cx="3332378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Pre-training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triliunan token internet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3898" y="4192270"/>
            <a:ext cx="320040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3938" y="4192270"/>
            <a:ext cx="3423818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9658" y="4192270"/>
            <a:ext cx="3332378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Fine-tuning (SFT)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contoh instruksi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7756" y="4192270"/>
            <a:ext cx="320040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7796" y="4192270"/>
            <a:ext cx="3423818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3516" y="4192270"/>
            <a:ext cx="3332378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Alignment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RLHF / DPO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Devlin dkk., BERT, NAACL 2019; Raffel dkk., T5, JMLR 2020; Ouyang dkk., InstructGPT, NeurIPS 2022; Rafailov dkk., DPO, NeurIPS 2023.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18/34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2 · GELOMBANG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8021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TANTANGAN &amp; PENERAPAN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4597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Hebat, tetapi belum selesai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02890"/>
            <a:ext cx="5355183" cy="15544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940050"/>
            <a:ext cx="5080863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TANTANGAN RISET TERBUKA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83890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Halusinasi · biaya komputasi &amp; energi · bias data · bahasa daerah minim data (low-resource) · evaluasi yang sahih · keamanan (prompt injection)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1" y="2802890"/>
            <a:ext cx="5355183" cy="15544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3591" y="2940050"/>
            <a:ext cx="5080863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PENERAPAN NYATA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591" y="3183890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RAG untuk chatbot layanan akademik · asisten kode · ringkasan dokumen hukum · NLP bahasa Indonesia &amp; Melayu (IndoBERT, SEA-LION)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85970"/>
            <a:ext cx="10911535" cy="3632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9FB2CF"/>
                </a:solidFill>
                <a:latin typeface="Plus Jakarta Sans"/>
              </a:rPr>
              <a:t>Setiap </a:t>
            </a:r>
            <a:r>
              <a:rPr sz="2200" b="0">
                <a:solidFill>
                  <a:srgbClr val="FB923C"/>
                </a:solidFill>
                <a:latin typeface="Plus Jakarta Sans"/>
              </a:rPr>
              <a:t>tantangan</a:t>
            </a:r>
            <a:r>
              <a:rPr sz="2200" b="0">
                <a:solidFill>
                  <a:srgbClr val="9FB2CF"/>
                </a:solidFill>
                <a:latin typeface="Plus Jakarta Sans"/>
              </a:rPr>
              <a:t> adalah calon </a:t>
            </a:r>
            <a:r>
              <a:rPr sz="2200" b="0">
                <a:solidFill>
                  <a:srgbClr val="2DD4BF"/>
                </a:solidFill>
                <a:latin typeface="Plus Jakarta Sans"/>
              </a:rPr>
              <a:t>topik skripsi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Ji dkk., "Survey of Hallucination in NLG", ACM Computing Surveys 2023; Lewis dkk., RAG, NeurIPS 2020; Wilie dkk., IndoNLU, AACL 2020.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19/34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2 · GELOMBANG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833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MULTIMODAL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409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Dunia nyata tidak hanya berupa </a:t>
            </a:r>
            <a:r>
              <a:rPr sz="3200" b="1">
                <a:solidFill>
                  <a:srgbClr val="FB923C"/>
                </a:solidFill>
                <a:latin typeface="Plus Jakarta Sans"/>
              </a:rPr>
              <a:t>teks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01010"/>
            <a:ext cx="2577007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38170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Teks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81070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Laporan warga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8255" y="3001010"/>
            <a:ext cx="2577007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415" y="3138170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Citra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415" y="3481070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Satelit &amp; drone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3001010"/>
            <a:ext cx="2577007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3591" y="3138170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Suara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591" y="3481070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Panggilan darurat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4607" y="3001010"/>
            <a:ext cx="2577007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1767" y="3138170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1767" y="3481070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Suhu, kelembapan gambut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7850"/>
            <a:ext cx="10911535" cy="3632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9FB2CF"/>
                </a:solidFill>
                <a:latin typeface="Plus Jakarta Sans"/>
              </a:rPr>
              <a:t>Manusia memahami dunia dengan </a:t>
            </a:r>
            <a:r>
              <a:rPr sz="2200" b="0">
                <a:solidFill>
                  <a:srgbClr val="2DD4BF"/>
                </a:solidFill>
                <a:latin typeface="Plus Jakarta Sans"/>
              </a:rPr>
              <a:t>banyak indra sekaligus</a:t>
            </a:r>
            <a:r>
              <a:rPr sz="2200" b="0">
                <a:solidFill>
                  <a:srgbClr val="9FB2CF"/>
                </a:solidFill>
                <a:latin typeface="Plus Jakarta Sans"/>
              </a:rPr>
              <a:t> — AI pun perlu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Baltrušaitis, Ahuja &amp; Morency, "Multimodal Machine Learning: A Survey and Taxonomy", IEEE TPAMI 2019.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20/34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2 · GELOMBANG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702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CARA KERJA MULTIMODAL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278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Kapan modalitas </a:t>
            </a:r>
            <a:r>
              <a:rPr sz="3200" b="1">
                <a:solidFill>
                  <a:srgbClr val="FB923C"/>
                </a:solidFill>
                <a:latin typeface="Plus Jakarta Sans"/>
              </a:rPr>
              <a:t>digabung</a:t>
            </a:r>
            <a:r>
              <a:rPr sz="3200" b="1">
                <a:solidFill>
                  <a:srgbClr val="E8EEF8"/>
                </a:solidFill>
                <a:latin typeface="Plus Jakarta Sans"/>
              </a:rPr>
              <a:t>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79700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1686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EARLY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070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Gabung data mentah/fitur di awal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4314" y="2679700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1474" y="281686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LATE 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1474" y="306070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Model terpisah, gabung keputusan di akhir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8548" y="2679700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5708" y="281686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INTERMEDIATE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5708" y="306070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Cross-attention antarmodalitas — pendekatan modern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67480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0464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CLIP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848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Contrastive learning citra–teks dalam satu ruang vektor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4314" y="3967480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1474" y="410464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LLAVA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1474" y="434848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Encoder visual + LLM melalui proyektor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8548" y="3967480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5708" y="410464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GPT-4O ·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5708" y="434848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Natively multimodal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Radford dkk., CLIP, ICML 2021; Liu dkk., LLaVA, NeurIPS 2023; Gemini Team, "Gemini: A Family of Highly Capable Multimodal Models", 2023.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21/34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2 · GELOMBANG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95501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MULTIMODAL DI DUNIA NYATA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1261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Ketika AI melihat, mendengar, dan membaca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18181"/>
            <a:ext cx="5355183" cy="91059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55341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Kesehatan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98241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Rontgen + rekam medis → diagnosis pendukung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1" y="2718181"/>
            <a:ext cx="5355183" cy="91059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3591" y="2855341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Pertanian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591" y="3198241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Foto tanaman + cuaca → rekomendasi pemupukan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29939"/>
            <a:ext cx="5355183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67099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Aksesibilitas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09999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Visual Question Answering untuk tunanetra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3829939"/>
            <a:ext cx="5355183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3591" y="3967099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Kebencanaan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3591" y="4309999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Citra satelit + sensor + laporan warga → peta risiko karhutla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22/34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2 · GELOMBANG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3764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79524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Dari AI yang </a:t>
            </a:r>
            <a:r>
              <a:rPr sz="3200" b="1">
                <a:solidFill>
                  <a:srgbClr val="FB923C"/>
                </a:solidFill>
                <a:latin typeface="Plus Jakarta Sans"/>
              </a:rPr>
              <a:t>menjawab</a:t>
            </a:r>
            <a:r>
              <a:rPr sz="3200" b="1">
                <a:solidFill>
                  <a:srgbClr val="E8EEF8"/>
                </a:solidFill>
                <a:latin typeface="Plus Jakarta Sans"/>
              </a:rPr>
              <a:t> ke AI yang </a:t>
            </a:r>
            <a:r>
              <a:rPr sz="3200" b="1">
                <a:solidFill>
                  <a:srgbClr val="2DD4BF"/>
                </a:solidFill>
                <a:latin typeface="Plus Jakarta Sans"/>
              </a:rPr>
              <a:t>bertindak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536444"/>
          <a:ext cx="10911534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076"/>
                <a:gridCol w="4473729"/>
                <a:gridCol w="4473729"/>
              </a:tblGrid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DD4BF"/>
                          </a:solidFill>
                          <a:latin typeface="Plus Jakarta Sans"/>
                        </a:rPr>
                        <a:t/>
                      </a:r>
                    </a:p>
                  </a:txBody>
                  <a:tcPr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DD4BF"/>
                          </a:solidFill>
                          <a:latin typeface="Plus Jakarta Sans"/>
                        </a:rPr>
                        <a:t>Generative AI</a:t>
                      </a:r>
                    </a:p>
                  </a:txBody>
                  <a:tcPr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DD4BF"/>
                          </a:solidFill>
                          <a:latin typeface="Plus Jakarta Sans"/>
                        </a:rPr>
                        <a:t>Agentic AI</a:t>
                      </a:r>
                    </a:p>
                  </a:txBody>
                  <a:tcPr>
                    <a:solidFill>
                      <a:srgbClr val="17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9FB2CF"/>
                          </a:solidFill>
                          <a:latin typeface="Plus Jakarta Sans"/>
                        </a:rPr>
                        <a:t>Peran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EF8"/>
                          </a:solidFill>
                          <a:latin typeface="Plus Jakarta Sans"/>
                        </a:rPr>
                        <a:t>Menghasilkan konten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EF8"/>
                          </a:solidFill>
                          <a:latin typeface="Plus Jakarta Sans"/>
                        </a:rPr>
                        <a:t>Mencapai tujuan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9FB2CF"/>
                          </a:solidFill>
                          <a:latin typeface="Plus Jakarta Sans"/>
                        </a:rPr>
                        <a:t>Pola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EF8"/>
                          </a:solidFill>
                          <a:latin typeface="Plus Jakarta Sans"/>
                        </a:rPr>
                        <a:t>Satu prompt → satu jawaban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EF8"/>
                          </a:solidFill>
                          <a:latin typeface="Plus Jakarta Sans"/>
                        </a:rPr>
                        <a:t>Rencana → aksi → evaluasi → ulangi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9FB2CF"/>
                          </a:solidFill>
                          <a:latin typeface="Plus Jakarta Sans"/>
                        </a:rPr>
                        <a:t>Akses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EF8"/>
                          </a:solidFill>
                          <a:latin typeface="Plus Jakarta Sans"/>
                        </a:rPr>
                        <a:t>Pengetahuan dalam model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EF8"/>
                          </a:solidFill>
                          <a:latin typeface="Plus Jakarta Sans"/>
                        </a:rPr>
                        <a:t>Tools, API, web, basis data, memori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9FB2CF"/>
                          </a:solidFill>
                          <a:latin typeface="Plus Jakarta Sans"/>
                        </a:rPr>
                        <a:t>Otonomi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EF8"/>
                          </a:solidFill>
                          <a:latin typeface="Plus Jakarta Sans"/>
                        </a:rPr>
                        <a:t>Rendah — manusia menyetir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EF8"/>
                          </a:solidFill>
                          <a:latin typeface="Plus Jakarta Sans"/>
                        </a:rPr>
                        <a:t>Tinggi — manusia mengawasi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9FB2CF"/>
                          </a:solidFill>
                          <a:latin typeface="Plus Jakarta Sans"/>
                        </a:rPr>
                        <a:t>Contoh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EF8"/>
                          </a:solidFill>
                          <a:latin typeface="Plus Jakarta Sans"/>
                        </a:rPr>
                        <a:t>"Tuliskan email izin"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EF8"/>
                          </a:solidFill>
                          <a:latin typeface="Plus Jakarta Sans"/>
                        </a:rPr>
                        <a:t>"Atur rapat, kirim undangan, siapkan notulen"</a:t>
                      </a:r>
                    </a:p>
                  </a:txBody>
                  <a:tcPr>
                    <a:solidFill>
                      <a:srgbClr val="0B142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Russell &amp; Norvig, 2021 (rational agent); Wang dkk., "A Survey on LLM-based Autonomous Agents", Frontiers of Computer Science 2024.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23/34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2 · GELOMBANG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1036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ANATOMI &amp; CARA BELAJAR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7612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Otak, tangan, ingatan, dan refleksi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33040"/>
            <a:ext cx="2487853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33040"/>
            <a:ext cx="2396413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Persepsi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membaca tujuan &amp; konteks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933" y="2733040"/>
            <a:ext cx="320040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973" y="2733040"/>
            <a:ext cx="2487853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693" y="2733040"/>
            <a:ext cx="2396413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Penalaran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LLM merencanakan langkah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5827" y="2733040"/>
            <a:ext cx="320040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733040"/>
            <a:ext cx="2487853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1587" y="2733040"/>
            <a:ext cx="2396413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Aksi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memanggil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3721" y="2733040"/>
            <a:ext cx="320040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3761" y="2733040"/>
            <a:ext cx="2487853" cy="9067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9481" y="2733040"/>
            <a:ext cx="2396413" cy="9067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Refleksi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menilai hasil, memperbaiki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14140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5130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DARI CONTOH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9514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In-context learning &amp; ReAct (reason + act)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4314" y="3914140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1474" y="405130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DARI UMPAN BALIK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1474" y="429514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Reflexion · RLHF · reward dari lingkungan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3914140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5708" y="405130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DARI PENGALAMAN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5708" y="429514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Memori jangka panjang · multi-agent berkolaborasi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Yao dkk., ReAct, ICLR 2023; Shinn dkk., Reflexion, NeurIPS 2023; Park dkk., Generative Agents, UIST 2023.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24/34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2 · GELOMBANG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70736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TOOLS AGENTIC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36496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Bisa kamu coba mulai hari ini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93416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30576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74416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LangChain / LangGraph · LlamaIndex · CrewAI · AutoGen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4314" y="2693416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1474" y="2830576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PROTOKOL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1474" y="3074416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Model Context Protocol (MCP) · function calling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8548" y="2693416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5708" y="2830576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OTOMASI LOW-CODE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5708" y="3074416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n8n · Make · Zapier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53764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90924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AGEN KODING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34764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Claude Code · GitHub Copilot agent · Cursor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4314" y="3953764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1474" y="4090924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AGEN RISET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1474" y="4334764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Deep Research · Elicit · NotebookLM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8548" y="3953764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5708" y="4090924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MODEL TERBUKA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5708" y="4334764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Llama · Qwen · Mistral via Ollama (lokal)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25/34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2 · GELOMBANG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75765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BENANG MERAH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41525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Satu masalah karhutla, empat level solusi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98445"/>
            <a:ext cx="2487853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98445"/>
            <a:ext cx="2396413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Level 1 · CV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Kamera mendeteksi asap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933" y="2798445"/>
            <a:ext cx="320040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973" y="2798445"/>
            <a:ext cx="2487853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693" y="2798445"/>
            <a:ext cx="2396413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Level 2 · Sequential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Memprediksi hotspot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5827" y="2798445"/>
            <a:ext cx="320040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798445"/>
            <a:ext cx="2487853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1587" y="2798445"/>
            <a:ext cx="2396413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Level 3 · Multimodal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Satelit + sensor + laporan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3721" y="2798445"/>
            <a:ext cx="320040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3761" y="2798445"/>
            <a:ext cx="2487853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9481" y="2798445"/>
            <a:ext cx="2396413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Level 4 · Agentic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Memantau, melapor, memperingatkan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27195"/>
            <a:ext cx="10911535" cy="726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9FB2CF"/>
                </a:solidFill>
                <a:latin typeface="Plus Jakarta Sans"/>
              </a:rPr>
              <a:t>Tren berubah, </a:t>
            </a:r>
            <a:r>
              <a:rPr sz="2200" b="0">
                <a:solidFill>
                  <a:srgbClr val="2DD4BF"/>
                </a:solidFill>
                <a:latin typeface="Plus Jakarta Sans"/>
              </a:rPr>
              <a:t>masalahnya tetap</a:t>
            </a:r>
            <a:r>
              <a:rPr sz="2200" b="0">
                <a:solidFill>
                  <a:srgbClr val="9FB2CF"/>
                </a:solidFill>
                <a:latin typeface="Plus Jakarta Sans"/>
              </a:rPr>
              <a:t>. Pilih level yang sesuai kemampuan &amp; data kamu.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26/34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3 · KOMPAS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5326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PELUANG DI SEKITAR KITA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1902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Riau &amp; Sumatera: laboratorium riset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75940"/>
            <a:ext cx="3503066" cy="15544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1310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INDUSTRI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5694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Sawit (hitung pohon, penyakit Ganoderma, grading TBS) · migas (predictive maintenance) · pulp &amp; paper · perikanan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4314" y="3075940"/>
            <a:ext cx="3503066" cy="15544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1474" y="321310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PENDIDIKAN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1474" y="345694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Tutor adaptif · chatbot akademik · deteksi teks AI · analitik risiko putus kuliah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8548" y="3075940"/>
            <a:ext cx="3503066" cy="15544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5708" y="3213100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MASYARAKAT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5708" y="3456940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Karhutla &amp; gambut · banjir · NLP Melayu Riau &amp; Minang · kesehatan desa · UMKM &amp; pariwisata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Strategi Nasional Kecerdasan Artifisial Indonesia 2020–2045 (BPPT/BRIN); data hotspot: SiPongi KLHK, NASA FIRMS.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27/34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3 · KOMPAS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27555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REM SEBELUM 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93315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Empat pilar AI yang bertanggung jawab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50235"/>
            <a:ext cx="2577007" cy="140589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87395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Etika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0295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Bias &amp; keadilan · deepfake · hak cipta · transparansi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8255" y="3150235"/>
            <a:ext cx="2577007" cy="140589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415" y="3287395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Keamanan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415" y="3630295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Prompt injection · adversarial attack · jailbreak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3150235"/>
            <a:ext cx="2577007" cy="140589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3591" y="3287395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Privasi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591" y="3630295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Data wajah &amp; pribadi · UU PDP No. 27/2022 · anonimisasi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4607" y="3150235"/>
            <a:ext cx="2577007" cy="140589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1767" y="3287395"/>
            <a:ext cx="2302687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Kehandalan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1767" y="3630295"/>
            <a:ext cx="2302687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Halusinasi · explainability · robust pada data lokal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UNESCO, Recommendation on the Ethics of AI, 2021; NIST AI Risk Management Framework 1.0, 2023; UU RI No. 27 Tahun 2022 tentang Pelindungan Data Pribadi.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28/34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3 · KOMPAS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71676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BAHAYA YANG TAK TERLIHAT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37436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Empat jebakan saat terlalu bergantung pada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94356"/>
            <a:ext cx="5355183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31516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Cognitive Atrophy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74416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Otot berpikir melemah karena semua diserahkan ke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1" y="2594356"/>
            <a:ext cx="5355183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3591" y="2731516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Illusion of Competence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591" y="3074416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Merasa paham karena jawabannya terdengar meyakinkan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53764"/>
            <a:ext cx="5355183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90924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Erosion of Curiosity &amp; 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3824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Berhenti bertanya "mengapa" dan menyerahkan keputusan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3953764"/>
            <a:ext cx="5355183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3591" y="4090924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Ethical Anaesthesia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3591" y="4433824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Mati rasa terhadap plagiarisme, bias, dan dampak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Kosmyna dkk., "Your Brain on ChatGPT", MIT Media Lab, 2025; Gerlich, "AI Tools in Society: Cognitive Offloading", Societies 15(1), 2025; Bjork dkk., Annual Review of Psychology, 2013.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29/34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3 · KOMPAS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71676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PENANGKAL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37436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AI sebagai </a:t>
            </a:r>
            <a:r>
              <a:rPr sz="3200" b="1">
                <a:solidFill>
                  <a:srgbClr val="2DD4BF"/>
                </a:solidFill>
                <a:latin typeface="Plus Jakarta Sans"/>
              </a:rPr>
              <a:t>sparring partner</a:t>
            </a:r>
            <a:r>
              <a:rPr sz="3200" b="1">
                <a:solidFill>
                  <a:srgbClr val="E8EEF8"/>
                </a:solidFill>
                <a:latin typeface="Plus Jakarta Sans"/>
              </a:rPr>
              <a:t>, bukan </a:t>
            </a:r>
            <a:r>
              <a:rPr sz="3200" b="1">
                <a:solidFill>
                  <a:srgbClr val="FB923C"/>
                </a:solidFill>
                <a:latin typeface="Plus Jakarta Sans"/>
              </a:rPr>
              <a:t>joki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94356"/>
            <a:ext cx="5355183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31516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Coba dulu, baru tanya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74416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Tulis jawabanmu sendiri, lalu bandingkan → melawan atrofi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1" y="2594356"/>
            <a:ext cx="5355183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3591" y="2731516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Jelaskan ulang tanpa melihat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3591" y="3074416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Uji pemahaman → melawan ilusi kompetensi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53764"/>
            <a:ext cx="5355183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90924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Tanyakan "mengapa" 3 kali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3824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Pertahankan rasa ingin tahu &amp; kendali keputusan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3953764"/>
            <a:ext cx="5355183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3591" y="4090924"/>
            <a:ext cx="5080863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Verifikasi &amp; deklarasikan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3591" y="4433824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Cek sumber, nyatakan penggunaan AI → jaga integritas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30/34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3 · KOMPAS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2751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MENEMUKAN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48511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Gap bukan dicari di langit, tetapi di </a:t>
            </a:r>
            <a:r>
              <a:rPr sz="3200" b="1">
                <a:solidFill>
                  <a:srgbClr val="FB923C"/>
                </a:solidFill>
                <a:latin typeface="Plus Jakarta Sans"/>
              </a:rPr>
              <a:t>batas</a:t>
            </a:r>
            <a:r>
              <a:rPr sz="3200" b="1">
                <a:solidFill>
                  <a:srgbClr val="E8EEF8"/>
                </a:solidFill>
                <a:latin typeface="Plus Jakarta Sans"/>
              </a:rPr>
              <a:t> paper lain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3751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970911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GAP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14751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Belum ada dataset lokal (bahasa Melayu, citra sawit Riau)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4314" y="2833751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1474" y="2970911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GAP METODE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1474" y="3214751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Metode baru belum diuji pada masalah 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8548" y="2833751"/>
            <a:ext cx="3503066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5708" y="2970911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GAP KONTEKS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5708" y="3214751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Berhasil di negara lain, belum di Indonesia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94099"/>
            <a:ext cx="3503066" cy="13068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31259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GAP EVALUASI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75099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Metrik/baseline belum adil atau belum lengkap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4314" y="4094099"/>
            <a:ext cx="3503066" cy="13068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1474" y="4231259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GAP EFISIENSI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1474" y="4475099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Akurat tapi terlalu berat untuk perangkat murah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8548" y="4094099"/>
            <a:ext cx="3503066" cy="13068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5708" y="4231259"/>
            <a:ext cx="3228746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CARA CEPAT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5708" y="4475099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Baca bagian </a:t>
            </a:r>
            <a:r>
              <a:rPr sz="1500" b="0">
                <a:solidFill>
                  <a:srgbClr val="2DD4BF"/>
                </a:solidFill>
                <a:latin typeface="Plus Jakarta Sans"/>
              </a:rPr>
              <a:t>Limitation &amp; Future Work</a:t>
            </a:r>
            <a:r>
              <a:rPr sz="1500" b="0">
                <a:solidFill>
                  <a:srgbClr val="9FB2CF"/>
                </a:solidFill>
                <a:latin typeface="Plus Jakarta Sans"/>
              </a:rPr>
              <a:t> dari 10–20 paper terbaru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09360"/>
            <a:ext cx="981425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FB2CF"/>
                </a:solidFill>
                <a:latin typeface="Plus Jakarta Sans"/>
              </a:rPr>
              <a:t>Alat bantu: Google Scholar · Semantic Scholar · Connected Papers · Elicit · Scopus/SINTA · Papers with Code. Metode: Kitchenham, Systematic Literature Review guidelines, 2007; PRISMA 2020.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31/34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3 · KOMPAS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50976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KEUNIKAN &amp; STANDAR 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16736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Rumus skripsi AI yang kuat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73656"/>
            <a:ext cx="10911535" cy="858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FB923C"/>
                </a:solidFill>
                <a:latin typeface="Plus Jakarta Sans"/>
              </a:rPr>
              <a:t>Masalah nyata</a:t>
            </a:r>
            <a:r>
              <a:rPr sz="2600" b="1">
                <a:solidFill>
                  <a:srgbClr val="E8EEF8"/>
                </a:solidFill>
                <a:latin typeface="Plus Jakarta Sans"/>
              </a:rPr>
              <a:t> + </a:t>
            </a:r>
            <a:r>
              <a:rPr sz="2600" b="1">
                <a:solidFill>
                  <a:srgbClr val="2DD4BF"/>
                </a:solidFill>
                <a:latin typeface="Plus Jakarta Sans"/>
              </a:rPr>
              <a:t>Data</a:t>
            </a:r>
            <a:r>
              <a:rPr sz="2600" b="1">
                <a:solidFill>
                  <a:srgbClr val="E8EEF8"/>
                </a:solidFill>
                <a:latin typeface="Plus Jakarta Sans"/>
              </a:rPr>
              <a:t> + </a:t>
            </a:r>
            <a:r>
              <a:rPr sz="2600" b="1">
                <a:solidFill>
                  <a:srgbClr val="2DD4BF"/>
                </a:solidFill>
                <a:latin typeface="Plus Jakarta Sans"/>
              </a:rPr>
              <a:t>Metode</a:t>
            </a:r>
            <a:r>
              <a:rPr sz="2600" b="1">
                <a:solidFill>
                  <a:srgbClr val="E8EEF8"/>
                </a:solidFill>
                <a:latin typeface="Plus Jakarta Sans"/>
              </a:rPr>
              <a:t> + </a:t>
            </a:r>
            <a:r>
              <a:rPr sz="2600" b="1">
                <a:solidFill>
                  <a:srgbClr val="FB923C"/>
                </a:solidFill>
                <a:latin typeface="Plus Jakarta Sans"/>
              </a:rPr>
              <a:t>Evaluasi terukur</a:t>
            </a:r>
            <a:r>
              <a:rPr sz="2600" b="1">
                <a:solidFill>
                  <a:srgbClr val="E8EEF8"/>
                </a:solidFill>
                <a:latin typeface="Plus Jakarta Sans"/>
              </a:rPr>
              <a:t> = Kontribusi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15056"/>
            <a:ext cx="3503066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52216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Rumusan jelas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95116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Satu pertanyaan riset yang bisa diuji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4314" y="3115056"/>
            <a:ext cx="3503066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1474" y="3252216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1474" y="3595116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Bandingkan dengan metode pembanding yang adil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8548" y="3115056"/>
            <a:ext cx="3503066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5708" y="3252216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Metrik tepat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5708" y="3595116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F1, mAP, RMSE, BLEU, uji pengguna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74464"/>
            <a:ext cx="3503066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11624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Ablation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54524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Komponen mana yang benar-benar berpengaruh?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4314" y="4474464"/>
            <a:ext cx="3503066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474" y="4611624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Reproducible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1474" y="4954524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Kode di GitHub, data &amp; seed terdokumentasi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8548" y="4474464"/>
            <a:ext cx="3503066" cy="115824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5708" y="4611624"/>
            <a:ext cx="322874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Plus Jakarta Sans"/>
              </a:rPr>
              <a:t>Dampak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5708" y="4954524"/>
            <a:ext cx="3228746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Prototipe/uji coba ke pengguna nyata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32/34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51215" y="182880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9FB2CF"/>
                </a:solidFill>
                <a:latin typeface="JetBrains Mono"/>
              </a:rPr>
              <a:t>BABAK 3 · KOMPAS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86535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PETA JALAN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2295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E8EEF8"/>
                </a:solidFill>
                <a:latin typeface="Plus Jakarta Sans"/>
              </a:rPr>
              <a:t>Dari ide ke publikasi dalam 6 langkah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09215"/>
            <a:ext cx="1551889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09215"/>
            <a:ext cx="1460449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1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Amati masalah di sekitar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1969" y="2609215"/>
            <a:ext cx="320040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2009" y="2609215"/>
            <a:ext cx="1551889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7729" y="2609215"/>
            <a:ext cx="1460449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2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Matriks literatur &amp;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3898" y="2609215"/>
            <a:ext cx="320040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938" y="2609215"/>
            <a:ext cx="1551889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9658" y="2609215"/>
            <a:ext cx="1460449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3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Kumpulkan &amp; anotasi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5827" y="2609215"/>
            <a:ext cx="320040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609215"/>
            <a:ext cx="1551889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1587" y="2609215"/>
            <a:ext cx="1460449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4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Baseline → model usulan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7756" y="2609215"/>
            <a:ext cx="320040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2609215"/>
            <a:ext cx="1551889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3516" y="2609215"/>
            <a:ext cx="1460449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5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Evaluasi, ablation, etika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9685" y="2609215"/>
            <a:ext cx="320040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100" b="0">
                <a:solidFill>
                  <a:srgbClr val="2DD4BF"/>
                </a:solidFill>
                <a:latin typeface="Plus Jakarta San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99725" y="2609215"/>
            <a:ext cx="1551889" cy="115443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45445" y="2609215"/>
            <a:ext cx="1460449" cy="11544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2DD4BF"/>
                </a:solidFill>
                <a:latin typeface="Plus Jakarta Sans"/>
              </a:rPr>
              <a:t>6</a:t>
            </a:r>
          </a:p>
          <a:p>
            <a:pPr algn="ctr"/>
            <a:r>
              <a:rPr sz="1500" b="0">
                <a:solidFill>
                  <a:srgbClr val="E8EEF8"/>
                </a:solidFill>
                <a:latin typeface="Plus Jakarta Sans"/>
              </a:rPr>
              <a:t>Publikasi &amp; open-source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37965"/>
            <a:ext cx="5355183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75125"/>
            <a:ext cx="5080863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MULAI SEKARANG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18965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Semester 5–6: ikut riset dosen, lomba, Kaggle, MBKM riset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6431" y="4037965"/>
            <a:ext cx="5355183" cy="1059180"/>
          </a:xfrm>
          <a:prstGeom prst="roundRect">
            <a:avLst>
              <a:gd name="adj" fmla="val 8000"/>
            </a:avLst>
          </a:prstGeom>
          <a:solidFill>
            <a:srgbClr val="172A4A"/>
          </a:solidFill>
          <a:ln w="15875">
            <a:solidFill>
              <a:srgbClr val="2A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3591" y="4175125"/>
            <a:ext cx="5080863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JetBrains Mono"/>
              </a:rPr>
              <a:t>TARGET LULUS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3591" y="4418965"/>
            <a:ext cx="5080863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9FB2CF"/>
                </a:solidFill>
                <a:latin typeface="Plus Jakarta Sans"/>
              </a:rPr>
              <a:t>Skripsi + artikel jurnal SINTA / konferensi nasional/internasional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33/34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98880"/>
            <a:ext cx="1091153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B923C"/>
                </a:solidFill>
                <a:latin typeface="JetBrains Mono"/>
              </a:rPr>
              <a:t>PENUTUP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64640"/>
            <a:ext cx="73152" cy="13563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64640"/>
            <a:ext cx="10637215" cy="9905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Plus Jakarta Sans"/>
              </a:rPr>
              <a:t>"The best way to predict the future is to invent it."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55239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FB2CF"/>
                </a:solidFill>
                <a:latin typeface="Plus Jakarta Sans"/>
              </a:rPr>
              <a:t>— Alan Kay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49599"/>
            <a:ext cx="10911535" cy="10896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9FB2CF"/>
                </a:solidFill>
                <a:latin typeface="Plus Jakarta Sans"/>
              </a:rPr>
              <a:t>Jadilah peneliti yang memakai AI untuk </a:t>
            </a:r>
            <a:r>
              <a:rPr sz="2200" b="0">
                <a:solidFill>
                  <a:srgbClr val="2DD4BF"/>
                </a:solidFill>
                <a:latin typeface="Plus Jakarta Sans"/>
              </a:rPr>
              <a:t>memperbesar kemanusiaan</a:t>
            </a:r>
            <a:r>
              <a:rPr sz="2200" b="0">
                <a:solidFill>
                  <a:srgbClr val="9FB2CF"/>
                </a:solidFill>
                <a:latin typeface="Plus Jakarta Sans"/>
              </a:rPr>
              <a:t>, bukan menggantikannya. Kabut asap, gambut, sawit, dan bahasa ibu kita sedang menunggu solusi — dari </a:t>
            </a:r>
            <a:r>
              <a:rPr sz="2200" b="0">
                <a:solidFill>
                  <a:srgbClr val="FB923C"/>
                </a:solidFill>
                <a:latin typeface="Plus Jakarta Sans"/>
              </a:rPr>
              <a:t>kamu</a:t>
            </a:r>
            <a:r>
              <a:rPr sz="2200" b="0">
                <a:solidFill>
                  <a:srgbClr val="9FB2CF"/>
                </a:solidFill>
                <a:latin typeface="Plus Jakarta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22139"/>
            <a:ext cx="10911535" cy="5613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E8EEF8"/>
                </a:solidFill>
                <a:latin typeface="Plus Jakarta Sans"/>
              </a:rPr>
              <a:t>Mulai dari </a:t>
            </a:r>
            <a:r>
              <a:rPr sz="3400" b="1">
                <a:solidFill>
                  <a:srgbClr val="FB923C"/>
                </a:solidFill>
                <a:latin typeface="Plus Jakarta Sans"/>
              </a:rPr>
              <a:t>masalah</a:t>
            </a:r>
            <a:r>
              <a:rPr sz="3400" b="1">
                <a:solidFill>
                  <a:srgbClr val="E8EEF8"/>
                </a:solidFill>
                <a:latin typeface="Plus Jakarta Sans"/>
              </a:rPr>
              <a:t>, bukan dari </a:t>
            </a:r>
            <a:r>
              <a:rPr sz="3400" b="1">
                <a:solidFill>
                  <a:srgbClr val="2DD4BF"/>
                </a:solidFill>
                <a:latin typeface="Plus Jakarta Sans"/>
              </a:rPr>
              <a:t>model</a:t>
            </a:r>
            <a:r>
              <a:rPr sz="3400" b="1">
                <a:solidFill>
                  <a:srgbClr val="E8EEF8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66359"/>
            <a:ext cx="10911535" cy="264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9FB2CF"/>
                </a:solidFill>
                <a:latin typeface="Plus Jakarta Sans"/>
              </a:rPr>
              <a:t>Terima kasih · Sesi Tanya Jawab · rahman.indra@if.itera.ac.id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00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FB2CF"/>
                </a:solidFill>
                <a:latin typeface="JetBrains Mono"/>
              </a:rPr>
              <a:t>34/34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